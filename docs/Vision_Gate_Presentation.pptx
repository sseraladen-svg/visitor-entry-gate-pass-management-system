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457200"/>
            <a:ext cx="1828800" cy="1828800"/>
          </a:xfrm>
          <a:prstGeom prst="ellipse">
            <a:avLst/>
          </a:prstGeom>
          <a:solidFill>
            <a:srgbClr val="E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0"/>
            <a:ext cx="1371600" cy="1371600"/>
          </a:xfrm>
          <a:prstGeom prst="ellipse">
            <a:avLst/>
          </a:prstGeom>
          <a:solidFill>
            <a:srgbClr val="C8C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Vision Entry Gate Pass</a:t>
            </a:r>
          </a:p>
          <a:p>
            <a:pPr algn="ctr">
              <a:defRPr sz="3600" b="1">
                <a:solidFill>
                  <a:srgbClr val="764BA2"/>
                </a:solidFill>
              </a:defRPr>
            </a:pPr>
            <a:r>
              <a:t>Management System</a:t>
            </a:r>
          </a:p>
          <a:p>
            <a:pPr algn="ctr">
              <a:spcAft>
                <a:spcPts val="1200"/>
              </a:spcAft>
              <a:defRPr sz="2000">
                <a:solidFill>
                  <a:srgbClr val="646464"/>
                </a:solidFill>
              </a:defRPr>
            </a:pPr>
            <a:r>
              <a:t>A Secure Visitor Management Solution</a:t>
            </a:r>
          </a:p>
          <a:p>
            <a:pPr algn="ctr">
              <a:defRPr sz="1600">
                <a:solidFill>
                  <a:srgbClr val="969696"/>
                </a:solidFill>
              </a:defRPr>
            </a:pPr>
            <a:r>
              <a:t>Presented by: Vision Gate Team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38404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r>
              <a:t>Current Challenges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</a:defRPr>
            </a:pPr>
            <a:r>
              <a:t>• Manual visitor registration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</a:defRPr>
            </a:pPr>
            <a:r>
              <a:t>• Paper-based systems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</a:defRPr>
            </a:pPr>
            <a:r>
              <a:t>• Security concerns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</a:defRPr>
            </a:pPr>
            <a:r>
              <a:t>• No real-time tracking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</a:defRPr>
            </a:pPr>
            <a:r>
              <a:t>• Inefficient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011680"/>
            <a:ext cx="38404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r>
              <a:t>Need for Automation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</a:defRPr>
            </a:pPr>
            <a:r>
              <a:t>• Streamlined management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</a:defRPr>
            </a:pPr>
            <a:r>
              <a:t>• Enhanced security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</a:defRPr>
            </a:pPr>
            <a:r>
              <a:t>• Digital documentation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</a:defRPr>
            </a:pPr>
            <a:r>
              <a:t>• Quick verification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</a:defRPr>
            </a:pPr>
            <a:r>
              <a:t>• Audit trail capabilities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System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8229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What is Vision Gate?</a:t>
            </a:r>
          </a:p>
          <a:p>
            <a:pPr>
              <a:spcAft>
                <a:spcPts val="1600"/>
              </a:spcAft>
              <a:defRPr sz="1400">
                <a:solidFill>
                  <a:srgbClr val="505050"/>
                </a:solidFill>
              </a:defRPr>
            </a:pPr>
            <a:r>
              <a:t>A web-based visitor management system for automated gate pass operations</a:t>
            </a:r>
          </a:p>
          <a:p>
            <a:pPr>
              <a:defRPr sz="1800" b="1">
                <a:solidFill>
                  <a:srgbClr val="667EEA"/>
                </a:solidFill>
              </a:defRPr>
            </a:pPr>
            <a:r>
              <a:t>Key Features</a:t>
            </a:r>
          </a:p>
          <a:p>
            <a:pPr>
              <a:spcBef>
                <a:spcPts val="600"/>
              </a:spcBef>
              <a:defRPr sz="1500">
                <a:solidFill>
                  <a:srgbClr val="505050"/>
                </a:solidFill>
              </a:defRPr>
            </a:pPr>
            <a:r>
              <a:t>🔐 Secure Authentication</a:t>
            </a:r>
          </a:p>
          <a:p>
            <a:pPr>
              <a:spcBef>
                <a:spcPts val="600"/>
              </a:spcBef>
              <a:defRPr sz="1500">
                <a:solidFill>
                  <a:srgbClr val="505050"/>
                </a:solidFill>
              </a:defRPr>
            </a:pPr>
            <a:r>
              <a:t>📝 Digital Pass Creation</a:t>
            </a:r>
          </a:p>
          <a:p>
            <a:pPr>
              <a:spcBef>
                <a:spcPts val="600"/>
              </a:spcBef>
              <a:defRPr sz="1500">
                <a:solidFill>
                  <a:srgbClr val="505050"/>
                </a:solidFill>
              </a:defRPr>
            </a:pPr>
            <a:r>
              <a:t>✅ Real-time Verification</a:t>
            </a:r>
          </a:p>
          <a:p>
            <a:pPr>
              <a:spcBef>
                <a:spcPts val="600"/>
              </a:spcBef>
              <a:defRPr sz="1500">
                <a:solidFill>
                  <a:srgbClr val="505050"/>
                </a:solidFill>
              </a:defRPr>
            </a:pPr>
            <a:r>
              <a:t>📊 Data Management</a:t>
            </a:r>
          </a:p>
          <a:p>
            <a:pPr>
              <a:spcBef>
                <a:spcPts val="600"/>
              </a:spcBef>
              <a:defRPr sz="1500">
                <a:solidFill>
                  <a:srgbClr val="505050"/>
                </a:solidFill>
              </a:defRPr>
            </a:pPr>
            <a:r>
              <a:t>🎨 Modern UI</a:t>
            </a:r>
          </a:p>
          <a:p>
            <a:pPr>
              <a:spcBef>
                <a:spcPts val="1200"/>
              </a:spcBef>
              <a:defRPr sz="1800" b="1">
                <a:solidFill>
                  <a:srgbClr val="667EEA"/>
                </a:solidFill>
              </a:defRPr>
            </a:pPr>
            <a:r>
              <a:t>Technology Stack</a:t>
            </a:r>
          </a:p>
          <a:p>
            <a:pPr>
              <a:spcBef>
                <a:spcPts val="400"/>
              </a:spcBef>
              <a:defRPr sz="1400">
                <a:solidFill>
                  <a:srgbClr val="505050"/>
                </a:solidFill>
              </a:defRPr>
            </a:pPr>
            <a:r>
              <a:t>• Java Spring Boot 3.5.0</a:t>
            </a:r>
          </a:p>
          <a:p>
            <a:pPr>
              <a:spcBef>
                <a:spcPts val="400"/>
              </a:spcBef>
              <a:defRPr sz="1400">
                <a:solidFill>
                  <a:srgbClr val="505050"/>
                </a:solidFill>
              </a:defRPr>
            </a:pPr>
            <a:r>
              <a:t>• HTML5 + Modern CSS</a:t>
            </a:r>
          </a:p>
          <a:p>
            <a:pPr>
              <a:spcBef>
                <a:spcPts val="400"/>
              </a:spcBef>
              <a:defRPr sz="1400">
                <a:solidFill>
                  <a:srgbClr val="505050"/>
                </a:solidFill>
              </a:defRPr>
            </a:pPr>
            <a:r>
              <a:t>• In-Memory Storage</a:t>
            </a:r>
          </a:p>
          <a:p>
            <a:pPr>
              <a:spcBef>
                <a:spcPts val="400"/>
              </a:spcBef>
              <a:defRPr sz="1400">
                <a:solidFill>
                  <a:srgbClr val="505050"/>
                </a:solidFill>
              </a:defRPr>
            </a:pPr>
            <a:r>
              <a:t>• Apache Tomcat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5486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67EEA"/>
                </a:solidFill>
              </a:defRPr>
            </a:pPr>
            <a:r>
              <a:t>User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00400"/>
            <a:ext cx="5486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67EEA"/>
                </a:solidFill>
              </a:defRPr>
            </a:pPr>
            <a:r>
              <a:t>Controllers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0"/>
            <a:ext cx="5486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67EEA"/>
                </a:solidFill>
              </a:defRPr>
            </a:pPr>
            <a:r>
              <a:t>Business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029200"/>
            <a:ext cx="5486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67EEA"/>
                </a:solidFill>
              </a:defRPr>
            </a:pPr>
            <a:r>
              <a:t>Data Storage</a:t>
            </a:r>
          </a:p>
        </p:txBody>
      </p:sp>
      <p:sp>
        <p:nvSpPr>
          <p:cNvPr id="7" name="Down Arrow 6"/>
          <p:cNvSpPr/>
          <p:nvPr/>
        </p:nvSpPr>
        <p:spPr>
          <a:xfrm>
            <a:off x="4572000" y="2926080"/>
            <a:ext cx="274320" cy="274320"/>
          </a:xfrm>
          <a:prstGeom prst="down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4572000" y="3840480"/>
            <a:ext cx="274320" cy="274320"/>
          </a:xfrm>
          <a:prstGeom prst="down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4572000" y="4754880"/>
            <a:ext cx="274320" cy="274320"/>
          </a:xfrm>
          <a:prstGeom prst="down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User Flow: Login → Create Pass → Generate ID → Verify Pass →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Key Features &amp;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667EEA"/>
                </a:solidFill>
              </a:defRPr>
            </a:pPr>
            <a:r>
              <a:t>Authentication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admin/admin123</a:t>
            </a:r>
          </a:p>
          <a:p>
            <a:pPr algn="ctr"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Secure login</a:t>
            </a:r>
          </a:p>
          <a:p>
            <a:pPr algn="ctr"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Error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01168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667EEA"/>
                </a:solidFill>
              </a:defRPr>
            </a:pPr>
            <a:r>
              <a:t>Pass Creation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Visitor details</a:t>
            </a:r>
          </a:p>
          <a:p>
            <a:pPr algn="ctr"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Auto ID generation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Success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01168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667EEA"/>
                </a:solidFill>
              </a:defRPr>
            </a:pPr>
            <a:r>
              <a:t>Verification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Real-time validation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Instant status</a:t>
            </a:r>
          </a:p>
          <a:p>
            <a:pPr algn="ctr">
              <a:spcBef>
                <a:spcPts val="400"/>
              </a:spcBef>
              <a:defRPr sz="1200">
                <a:solidFill>
                  <a:srgbClr val="505050"/>
                </a:solidFill>
              </a:defRPr>
            </a:pPr>
            <a:r>
              <a:t>Visitor info display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82296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667EEA"/>
                </a:solidFill>
              </a:defRPr>
            </a:pPr>
            <a:r>
              <a:t>UI Highlights: Modern gradient design • Responsive layout • Intuitive navigation • Real-time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Future Enhancements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38404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r>
              <a:t>Planned Improvements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🗄️ MySQL Database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🔑 JWT Authentication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📱 Mobile Design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📊 Advanced Reports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🖼️ QR Code Generation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⏰ Time-based Expiration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📧 Email Notifications</a:t>
            </a:r>
          </a:p>
          <a:p>
            <a:pPr>
              <a:spcBef>
                <a:spcPts val="600"/>
              </a:spcBef>
              <a:defRPr sz="1400">
                <a:solidFill>
                  <a:srgbClr val="505050"/>
                </a:solidFill>
              </a:defRPr>
            </a:pPr>
            <a:r>
              <a:t>🔄 History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011680"/>
            <a:ext cx="38404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r>
              <a:t>Benefits Achieved</a:t>
            </a:r>
          </a:p>
          <a:p>
            <a:pPr>
              <a:spcBef>
                <a:spcPts val="800"/>
              </a:spcBef>
              <a:defRPr sz="1500">
                <a:solidFill>
                  <a:srgbClr val="505050"/>
                </a:solidFill>
              </a:defRPr>
            </a:pPr>
            <a:r>
              <a:t>✅ Streamlined Management</a:t>
            </a:r>
          </a:p>
          <a:p>
            <a:pPr>
              <a:spcBef>
                <a:spcPts val="800"/>
              </a:spcBef>
              <a:defRPr sz="1500">
                <a:solidFill>
                  <a:srgbClr val="505050"/>
                </a:solidFill>
              </a:defRPr>
            </a:pPr>
            <a:r>
              <a:t>✅ Enhanced Security</a:t>
            </a:r>
          </a:p>
          <a:p>
            <a:pPr>
              <a:spcBef>
                <a:spcPts val="800"/>
              </a:spcBef>
              <a:defRPr sz="1500">
                <a:solidFill>
                  <a:srgbClr val="505050"/>
                </a:solidFill>
              </a:defRPr>
            </a:pPr>
            <a:r>
              <a:t>✅ Digital Documentation</a:t>
            </a:r>
          </a:p>
          <a:p>
            <a:pPr>
              <a:spcBef>
                <a:spcPts val="800"/>
              </a:spcBef>
              <a:defRPr sz="1500">
                <a:solidFill>
                  <a:srgbClr val="505050"/>
                </a:solidFill>
              </a:defRPr>
            </a:pPr>
            <a:r>
              <a:t>✅ Quick Verification</a:t>
            </a:r>
          </a:p>
          <a:p>
            <a:pPr>
              <a:spcBef>
                <a:spcPts val="800"/>
              </a:spcBef>
              <a:defRPr sz="1500">
                <a:solidFill>
                  <a:srgbClr val="505050"/>
                </a:solidFill>
              </a:defRPr>
            </a:pPr>
            <a:r>
              <a:t>✅ User-friendly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217920"/>
            <a:ext cx="8229600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Vision Gate: Modern, Secure Visitor Management with Future-Ready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